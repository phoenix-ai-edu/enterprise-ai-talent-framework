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這張投影片展示如何只用一行確認本機 SQLite3 環境正常。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重點在 connect()、cursor()、close() 三步驟。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 IF NOT EXISTS 可避免重複執行建立指令。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範例涵蓋 INSERT、fetchall、fetchone。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實務常用更新與刪除，一定要搭配 WHERE。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重點：第二個參數即使是單一值，也要是 tuple。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row_factory 讓每一筆資料可以用 key 取值，更易維護。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 with 可減少忘記 commit 或 close 的機會。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handling 能讓你快速看到失敗原因。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SQLite3 程式小白教學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從資料庫基礎到實戰 CRUD，一頁上手最輕量的資料庫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572000"/>
            <a:ext cx="10607040" cy="13716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166360"/>
            <a:ext cx="10607040" cy="73152"/>
          </a:xfrm>
          <a:prstGeom prst="rect">
            <a:avLst/>
          </a:prstGeom>
          <a:solidFill>
            <a:srgbClr val="4CA3A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課程大綱與學習目標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4114800"/>
            <a:ext cx="2560320" cy="164592"/>
          </a:xfrm>
          <a:prstGeom prst="rect">
            <a:avLst/>
          </a:prstGeom>
          <a:solidFill>
            <a:srgbClr val="FF7F5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課程大綱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認識資料庫基本概念與 SQLite 定位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安裝與環境設定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連線與Cursor基本操作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CREATE/INSERT/READ/UPDATE/DELETE 全流程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查詢強化：fetchone/fetchall/fetchmany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參數化查詢與 SQL 注入防禦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主鍵、AUTOINCREMENT與資料類型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實作案例、除錯技巧、學習路徑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為什麼從 SQLite 開始？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新手友善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5303520" cy="64008"/>
          </a:xfrm>
          <a:prstGeom prst="rect">
            <a:avLst/>
          </a:prstGeom>
          <a:solidFill>
            <a:srgbClr val="FFA07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697480"/>
            <a:ext cx="53035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內建於 Python，不需額外安裝伺服器</a:t>
            </a:r>
            <a:endParaRPr lang="en-US" sz="15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單一檔案即可備份與攜帶</a:t>
            </a:r>
            <a:endParaRPr lang="en-US" sz="15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語法接近業界主流資料庫</a:t>
            </a:r>
            <a:endParaRPr lang="en-US" sz="15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適合練習 SQL 與資料庫邏輯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46520" y="1874520"/>
            <a:ext cx="36576" cy="438912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20116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讓我閃耀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675120" y="2468880"/>
            <a:ext cx="4937760" cy="64008"/>
          </a:xfrm>
          <a:prstGeom prst="rect">
            <a:avLst/>
          </a:prstGeom>
          <a:solidFill>
            <a:srgbClr val="FFA07A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697480"/>
            <a:ext cx="49377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零組態起步，專注學習概念</a:t>
            </a:r>
            <a:endParaRPr lang="en-US" sz="15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手機到伺服器都能執行</a:t>
            </a:r>
            <a:endParaRPr lang="en-US" sz="15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從小專案到原型都適用</a:t>
            </a:r>
            <a:endParaRPr lang="en-US" sz="15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再進階 MySQL/PostgreSQL 很容易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為什麼學 SQLite？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502920" cy="7772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4592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96596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是目前最廣泛部署的資料庫，Android、iOS、macOS、Chrome 與無數桌面軟體都內建使用。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小白起步的最佳選擇：不需要安裝資料庫伺服器、不需要帳號密碼設定、不需要背景服務。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學習 SQLite 的概念可無縫遷移到 MySQL、PostgreSQL 等大型資料庫。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你只需要會 Python，就能開始操作資料庫。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資料庫基礎概念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4114800"/>
            <a:ext cx="2560320" cy="164592"/>
          </a:xfrm>
          <a:prstGeom prst="rect">
            <a:avLst/>
          </a:prstGeom>
          <a:solidFill>
            <a:srgbClr val="FF7F5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資料庫是什麼？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資料庫（Database）是用來長期結構化管理資料的系統。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你可以把它想成「具備查詢能力的 Excel 儲存區」。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資料庫會把資料分成多個表格，每張表格有欄位名稱與資料型別。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表格內容由一或多個欄位組成主鍵（Primary Key），唯一代表每一列記錄。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常見的資料庫伺服器：MySQL、PostgreSQL、MSSQL、SQLite。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資料庫核心元件流程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1645920" cy="1737360"/>
          </a:xfrm>
          <a:prstGeom prst="rect">
            <a:avLst/>
          </a:prstGeom>
          <a:solidFill>
            <a:srgbClr val="F5FFFE"/>
          </a:solidFill>
          <a:ln w="31750">
            <a:solidFill>
              <a:srgbClr val="006666"/>
            </a:solidFill>
            <a:prstDash val="solid"/>
          </a:ln>
          <a:effectLst>
            <a:outerShdw sx="100000" sy="100000" kx="0" ky="0" algn="bl" rotWithShape="0" blurRad="508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8424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 .db 檔案或資料庫服務實例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95728" y="2587752"/>
            <a:ext cx="557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7F50"/>
                </a:solidFill>
              </a:rPr>
              <a:t>➜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971800" y="1874520"/>
            <a:ext cx="1645920" cy="1737360"/>
          </a:xfrm>
          <a:prstGeom prst="rect">
            <a:avLst/>
          </a:prstGeom>
          <a:solidFill>
            <a:srgbClr val="E2F3F3"/>
          </a:solidFill>
          <a:ln w="31750">
            <a:solidFill>
              <a:srgbClr val="006666"/>
            </a:solidFill>
            <a:prstDash val="solid"/>
          </a:ln>
          <a:effectLst>
            <a:outerShdw sx="100000" sy="100000" kx="0" ky="0" algn="bl" rotWithShape="0" blurRad="645160000" dist="483870000" dir="162000000000">
              <a:srgbClr val="000000">
                <a:alpha val="18000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71800" y="198424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71800" y="256032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同類資料的表格，例如 users、orders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36008" y="2587752"/>
            <a:ext cx="557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7F50"/>
                </a:solidFill>
              </a:rPr>
              <a:t>➜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212080" y="1874520"/>
            <a:ext cx="1645920" cy="1737360"/>
          </a:xfrm>
          <a:prstGeom prst="rect">
            <a:avLst/>
          </a:prstGeom>
          <a:solidFill>
            <a:srgbClr val="F5FFFE"/>
          </a:solidFill>
          <a:ln w="31750">
            <a:solidFill>
              <a:srgbClr val="006666"/>
            </a:solidFill>
            <a:prstDash val="solid"/>
          </a:ln>
          <a:effectLst>
            <a:outerShdw sx="100000" sy="100000" kx="0" ky="0" algn="bl" rotWithShape="0" blurRad="8193532000000" dist="6145149000000" dir="9720000000000000">
              <a:srgbClr val="000000">
                <a:alpha val="1800000000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12080" y="198424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12080" y="256032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儲存特定屬性，例如 id、name、price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76288" y="2587752"/>
            <a:ext cx="557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7F50"/>
                </a:solidFill>
              </a:rPr>
              <a:t>➜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7452360" y="1874520"/>
            <a:ext cx="1645920" cy="1737360"/>
          </a:xfrm>
          <a:prstGeom prst="rect">
            <a:avLst/>
          </a:prstGeom>
          <a:solidFill>
            <a:srgbClr val="E2F3F3"/>
          </a:solidFill>
          <a:ln w="31750">
            <a:solidFill>
              <a:srgbClr val="006666"/>
            </a:solidFill>
            <a:prstDash val="solid"/>
          </a:ln>
          <a:effectLst>
            <a:outerShdw sx="100000" sy="100000" kx="0" ky="0" algn="bl" rotWithShape="0" blurRad="104057856400000000" dist="78043392300000000" dir="583200000000000000000">
              <a:srgbClr val="000000">
                <a:alpha val="180000000000000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52360" y="198424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52360" y="256032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一筆紀錄，例如一筆使用者資料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常用資料庫比較：SQLite vs MySQL vs PostgreSQL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SQLite：輕量、單檔、內建、適合嵌入裝置與小型應用。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MySQL：客戶端/伺服器架構，適合網站與多人連線。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PostgreSQL：功能最完整，適合複雜分析、GIS、擴充型別。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不支援使用者帳號、外部連線與儲存程序。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 需要安裝與管理後台服務。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初學者先學 SQLite，最省時間、最少挫折。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三大資料庫功能比較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737360" cy="201168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比較表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556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2834640"/>
                <a:gridCol w="29260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規格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檔案型態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單一檔案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伺服器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伺服器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設定難度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極低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較高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最大資料量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約 140 TB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視版本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超大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併發讀寫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強大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強大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應用場景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手機/桌面/嵌入式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網站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企業/分析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安裝與環境設定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4114800"/>
            <a:ext cx="2560320" cy="164592"/>
          </a:xfrm>
          <a:prstGeom prst="rect">
            <a:avLst/>
          </a:prstGeom>
          <a:solidFill>
            <a:srgbClr val="FF7F5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SQLite 環境：Python 內建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 是 Python 標準函式庫，PYTHON 3.x 不需要額外安裝。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只要你的 Python 可以 import sqlite3，就已經準備好了。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建議在終端機執行：python -c "import sqlite3; print(sqlite3.sqlite_version)"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編寫程式的編輯器建議：VS Code、PyCharm、Thonny。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 Python 版本：3.9 以上，較新版本有更好的型別提示支援。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2B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範例：驗證 SQLite3 版本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645920" cy="201168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1155680" cy="4251960"/>
          </a:xfrm>
          <a:prstGeom prst="rect">
            <a:avLst/>
          </a:prstGeom>
          <a:solidFill>
            <a:srgbClr val="121A1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960120"/>
            <a:ext cx="1078992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sqlite3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print("你的 Python 版本可用")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print("SQLite 版本：", sqlite3.sqlite_version)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成功執行表示連線核心模組已可用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安裝確認要點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 python3 指令是否存在。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 import sqlite3 不會报错。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並不需要額外伺服器。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與 macOS/Linux 行為一致。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資料庫連線與關閉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4114800"/>
            <a:ext cx="2560320" cy="164592"/>
          </a:xfrm>
          <a:prstGeom prst="rect">
            <a:avLst/>
          </a:prstGeom>
          <a:solidFill>
            <a:srgbClr val="FF7F5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建立連線的意義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資料庫連線就像是你和資料庫檔案之間的對話管道。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connect() 開啟管道，成功後會回傳 Connection 物件。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你可以用它執行查詢、管理交易、關閉連線、備份檔案。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不使用時要呼叫 close()，避免檔案鎖定與資源浪費。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2B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基礎連線與關閉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645920" cy="201168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1155680" cy="4251960"/>
          </a:xfrm>
          <a:prstGeom prst="rect">
            <a:avLst/>
          </a:prstGeom>
          <a:solidFill>
            <a:srgbClr val="121A1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960120"/>
            <a:ext cx="1078992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sqlite3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 = sqlite3.connect("school.db")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print("連線成功")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 = connection.cursor()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print("Cursor 建立成功")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cursor.close()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connection.close()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print("連線已關閉")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常見錯誤與解法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錯誤訊息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5303520" cy="64008"/>
          </a:xfrm>
          <a:prstGeom prst="rect">
            <a:avLst/>
          </a:prstGeom>
          <a:solidFill>
            <a:srgbClr val="FFA07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697480"/>
            <a:ext cx="53035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OperationalError: database is locked</a:t>
            </a:r>
            <a:endParaRPr lang="en-US" sz="15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ProgrammingError: Incorrect number of bindings</a:t>
            </a:r>
            <a:endParaRPr lang="en-US" sz="15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FileNotFoundError：缺少 .db 路徑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46520" y="1874520"/>
            <a:ext cx="36576" cy="438912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20116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建議解法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675120" y="2468880"/>
            <a:ext cx="4937760" cy="64008"/>
          </a:xfrm>
          <a:prstGeom prst="rect">
            <a:avLst/>
          </a:prstGeom>
          <a:solidFill>
            <a:srgbClr val="FFA07A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697480"/>
            <a:ext cx="49377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另一個程式正在使用資料庫，關閉後重試</a:t>
            </a:r>
            <a:endParaRPr lang="en-US" sz="15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mark 數量要和資料筆數一致</a:t>
            </a:r>
            <a:endParaRPr lang="en-US" sz="15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connect() 會自動建立檔案，但目錄必須存在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/ Insert：寫入資料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4114800"/>
            <a:ext cx="2560320" cy="164592"/>
          </a:xfrm>
          <a:prstGeom prst="rect">
            <a:avLst/>
          </a:prstGeom>
          <a:solidFill>
            <a:srgbClr val="FF7F50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建立資料表 CREATE TABLE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建立資料表前要先定義欄位、型別、長度與主鍵。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的型別親和性較寬鬆：TEXT、INTEGER、REAL、BLOB、NULL。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常見搭配 INTEGER AUTOINCREMENT。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 寫法可運作，但更像是「親和型別」而非嚴格限制。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建立資料表時應避免大小寫不一致造成管理困擾。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2B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建立 students 資料表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645920" cy="201168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1155680" cy="4251960"/>
          </a:xfrm>
          <a:prstGeom prst="rect">
            <a:avLst/>
          </a:prstGeom>
          <a:solidFill>
            <a:srgbClr val="121A1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960120"/>
            <a:ext cx="1078992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sqlite3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 = sqlite3.connect("school.db")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 = connection.cursor()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cursor.execute(```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IF NOT EXISTS students (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INTEGER PRIMARY KEY AUTOINCREMENT,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TEXT NOT NULL,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 INTEGER NOT NULL,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city TEXT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connection.commit()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cursor.close()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connection.close()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print("資料表建立完畢")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欄位型別常用選擇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INTEGER：整數，適合年齡、數量、數量、主鍵。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REAL：小數、價格、測量值。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TEXT：姓名、地址、敘述。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BLOB：圖片、檔案二進位內容。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/ DATETIME：SQLite 仍用 TEXT/INTEGER/REAL 存，應用層處理格式。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CRUD：Read / Update / Delete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4114800"/>
            <a:ext cx="2560320" cy="164592"/>
          </a:xfrm>
          <a:prstGeom prst="rect">
            <a:avLst/>
          </a:prstGeom>
          <a:solidFill>
            <a:srgbClr val="FF7F50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讀取資料 SELECT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搭配 FROM、WHERE、ORDER BY 就能讀取資料。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fetchone() 只讀一筆，適合確認為唯一資料時使用。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fetchall() 回傳整個結果清單，資料量大時注意記憶體。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fetchmany(size) 回傳一批，適合批次處理或分頁。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row_factory = sqlite3.Row 可讓回傳結果像字典操作。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2B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新增與查詢兩段範例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645920" cy="201168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1155680" cy="4251960"/>
          </a:xfrm>
          <a:prstGeom prst="rect">
            <a:avLst/>
          </a:prstGeom>
          <a:solidFill>
            <a:srgbClr val="121A1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960120"/>
            <a:ext cx="1078992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sqlite3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 = sqlite3.connect("school.db")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 = connection.cursor()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新增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cursor.execute(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"INSERT INTO students (name, age, city) VALUES (?, ?, ?)",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("Amy", 18, "Taipei")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connection.commit()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查詢全部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cursor.execute("SELECT * FROM students")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= cursor.fetchall()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row in rows: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print(row)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查詢一筆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cursor.execute("SELECT * FROM students WHERE id = ?", (1,))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print(cursor.fetchone())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cursor.close()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connection.close()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cursor.execute() 使用重點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第一個參數是 SQL，可用參數化 ? 或命名參數 :name。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第二個參數如果是 tuple/list/dict，會綁定到參數位置。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避免用字串拼接 SQL，尤其在處理使用者輸入時。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executemany() 適合批次大量寫入。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互動練習：成功讀到資料了嗎？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005840" cy="9144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10312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請開啟 school.db</a:t>
            </a:r>
            <a:endParaRPr lang="en-US" sz="16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請新增 2 位學生姓名：Alice、Bob</a:t>
            </a:r>
            <a:endParaRPr lang="en-US" sz="16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請把所有學生的名字印出</a:t>
            </a:r>
            <a:endParaRPr lang="en-US" sz="16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請用 fetchone() 找 id = 1 的學生</a:t>
            </a:r>
            <a:endParaRPr lang="en-US" sz="16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請手動關閉連線並觀察檔案內容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進階查詢與修改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4114800"/>
            <a:ext cx="2560320" cy="164592"/>
          </a:xfrm>
          <a:prstGeom prst="rect">
            <a:avLst/>
          </a:prstGeom>
          <a:solidFill>
            <a:srgbClr val="FF7F50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Update / Delete 與條件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要搭配 WHERE 才會更新指定範圍，否則全部都會被改掉。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的風險更大，無條件只刪帶條件的紀錄。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預習 transaction 概念：commit() 才會真正寫入，rollback() 可撤銷未 commit。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建議每次更新後 SELECT 確認結果與預期一致。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2B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Update 與 Delete 合併範例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645920" cy="201168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1155680" cy="4251960"/>
          </a:xfrm>
          <a:prstGeom prst="rect">
            <a:avLst/>
          </a:prstGeom>
          <a:solidFill>
            <a:srgbClr val="121A1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960120"/>
            <a:ext cx="1078992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sqlite3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 = sqlite3.connect("school.db")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 = connection.cursor()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Update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cursor.execute(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"UPDATE students SET city = ? WHERE name = ?",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("Kaohsiung", "Amy")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Delete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cursor.execute("DELETE FROM students WHERE age &lt; ?", (16,))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connection.commit()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print("更新與刪除完成")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cursor.close()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connection.close()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fetch 差異速查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fetchone()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5303520" cy="64008"/>
          </a:xfrm>
          <a:prstGeom prst="rect">
            <a:avLst/>
          </a:prstGeom>
          <a:solidFill>
            <a:srgbClr val="FFA07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697480"/>
            <a:ext cx="53035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只讀取一筆紀錄</a:t>
            </a:r>
            <a:endParaRPr lang="en-US" sz="15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回傳 tuple 或 None</a:t>
            </a:r>
            <a:endParaRPr lang="en-US" sz="15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適合單筆查詢</a:t>
            </a:r>
            <a:endParaRPr lang="en-US" sz="15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游標會前進到下一個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46520" y="1874520"/>
            <a:ext cx="36576" cy="438912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20116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fetchall()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675120" y="2468880"/>
            <a:ext cx="4937760" cy="64008"/>
          </a:xfrm>
          <a:prstGeom prst="rect">
            <a:avLst/>
          </a:prstGeom>
          <a:solidFill>
            <a:srgbClr val="FFA07A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697480"/>
            <a:ext cx="49377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讀取所有剩餘紀錄</a:t>
            </a:r>
            <a:endParaRPr lang="en-US" sz="15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回傳 list[tuple]</a:t>
            </a:r>
            <a:endParaRPr lang="en-US" sz="15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資料量大時注意效能</a:t>
            </a:r>
            <a:endParaRPr lang="en-US" sz="15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可用 for row in rows 遍歷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executemany() 概念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executemany(sql, seq_of_parameters) 做批次操作。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適合一次插入大量資料、批次更新規則明確的資料。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的每一筆都會被重複執行一次 SQL。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語法範例：executemany(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"INSERT INTO t(name, age) VALUES (?, ?)",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data_list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參數化查詢與安全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4114800"/>
            <a:ext cx="2560320" cy="164592"/>
          </a:xfrm>
          <a:prstGeom prst="rect">
            <a:avLst/>
          </a:prstGeom>
          <a:solidFill>
            <a:srgbClr val="FF7F50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為什麼要參數化？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資料庫驅動程式會把 ? 對應的參數當資料，而不是可執行的 SQL。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這樣使用者輸入就不會被誤判成指令，避免 SQL Injection。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命名參數 :name 適合多參數語意清晰時使用。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常被攻擊的按鈕：搜尋框、登入欄位、URL 參數。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 Injection 概念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攻擊者輸入：任意字串如 admin' OR 1=1 --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若直接拼字串，資料庫會誤以為是額外條件或註解解除限制。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參數化查詢讓使用者輸入永遠只被當資料，不會變成 SQL 片段。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永遠不要用 + 或 format() 拼接使用者輸入進 SQL。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2B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 參數化查詢範例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645920" cy="201168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1155680" cy="4251960"/>
          </a:xfrm>
          <a:prstGeom prst="rect">
            <a:avLst/>
          </a:prstGeom>
          <a:solidFill>
            <a:srgbClr val="121A1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960120"/>
            <a:ext cx="1078992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sqlite3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= input("輸入要查詢的城市：")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下面這行使用參數化查詢，避免 SQL injection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cursor.execute(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"SELECT * FROM students WHERE city = ?",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(city,)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= cursor.fetchall()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print("找到", len(rows), "筆")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2B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named style 與 row_factory 組合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645920" cy="201168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1155680" cy="4251960"/>
          </a:xfrm>
          <a:prstGeom prst="rect">
            <a:avLst/>
          </a:prstGeom>
          <a:solidFill>
            <a:srgbClr val="121A1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960120"/>
            <a:ext cx="1078992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sqlite3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 = sqlite3.connect("school.db")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connection.row_factory = sqlite3.Row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 = connection.cursor()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cursor.execute(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"SELECT id, name, age FROM students WHERE age &gt;= :min_age",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{"min_age": 18}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= cursor.fetchall()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row in rows: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print("id：", row["id"])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print("name：", row["name"])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print("age：", row["age"])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cursor.close()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connection.close()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參數化小提醒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參數用 tuple，即使只有一個值也要加逗號。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:name 命名參數可用 dict 綁定。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參數化查詢衡量原則：所有來自使用者輸入都應參數化。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資料庫驅動會自動型別轉換，不需要自行處理。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型別、主鍵與交易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4114800"/>
            <a:ext cx="2560320" cy="164592"/>
          </a:xfrm>
          <a:prstGeom prst="rect">
            <a:avLst/>
          </a:prstGeom>
          <a:solidFill>
            <a:srgbClr val="FF7F50"/>
          </a:solidFill>
          <a:ln/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SQLite 的類型親和性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儲存型別只分成：NULL、INTEGER、REAL、TEXT、BLOB。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欄位聲明型別更像提示，不是嚴格約束。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例如声明 INTEGER，放文字也能存入，只是會嘗試轉換。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寫給程式閱讀時，欄位聲明仍建議正確。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主鍵與 AUTOINCREMENT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在 SQLite 內建 rowid，接近一本書的頁碼。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AUTOINCREMENT 只是保證 rowid 不會重複使用。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大多數時候不需要 AUTOINCREMENT，直接 INTEGER PRIMARY KEY 即可。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刪除資料後，rowid 不會主動補回空缺。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交易與 commit/rollback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 execute() 不會立刻寫入檔案，直到呼叫 commit()。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發生錯誤時可呼叫 rollback() 回到之前的狀態。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好習慣：寫完邏輯才一次 commit，保持資料一致性。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with 資料庫連線可自動管理交易，減少錯誤。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2B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連線自動處理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645920" cy="201168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1155680" cy="4251960"/>
          </a:xfrm>
          <a:prstGeom prst="rect">
            <a:avLst/>
          </a:prstGeom>
          <a:solidFill>
            <a:srgbClr val="121A1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960120"/>
            <a:ext cx="1078992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sqlite3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sqlite3.connect("school.db") as connection: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cursor = connection.cursor()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cursor.execute(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"INSERT INTO students (name, age, city) VALUES (?, ?, ?)",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("Carol", 17, "Tainan")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cursor.execute(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"UPDATE students SET city = 'Hsinchu' WHERE name = ?",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("Carol",)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離開 with 區塊會自動 commit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發生例外則自動 rollback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print("完成")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0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常見錯誤與 Debug 技巧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4114800"/>
            <a:ext cx="2560320" cy="164592"/>
          </a:xfrm>
          <a:prstGeom prst="rect">
            <a:avLst/>
          </a:prstGeom>
          <a:solidFill>
            <a:srgbClr val="FF7F50"/>
          </a:solidFill>
          <a:ln/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常見錯誤總覽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資料庫被鎖定：確認無其他程式開啟，並使用 with 管理連線。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語法錯誤：先去 SQLite shell 或線上工具確認語法。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參數數量錯誤：? 的數量 != tuple/list 的長度。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遺忘 commit：修改不會真正寫入。</a:t>
            </a:r>
            <a:endParaRPr lang="en-US" sz="16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路徑錯誤：資料夾不存在時 connect 仍不會自動建立目錄。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Debug 檢查清單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先印出 cursor.execute 的 SQL 與參數內容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改用 VERY SIMPLE SQL 單獨測試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確認資料庫檔案路徑是否正確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中斷程式前先查看 school.db 是否被鎖定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try/except 捕捉錯誤並印出差異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2B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除錯範例：try/except 包裝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645920" cy="201168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1155680" cy="4251960"/>
          </a:xfrm>
          <a:prstGeom prst="rect">
            <a:avLst/>
          </a:prstGeom>
          <a:solidFill>
            <a:srgbClr val="121A1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960120"/>
            <a:ext cx="1078992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sqlite3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connection = sqlite3.connect("school.db")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cursor = connection.cursor()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cursor.execute(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"INSERT INTO students (name, age, city) VALUES (?, ?, ?)",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("Dave",),  # 故意少參數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connection.commit()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sqlite3.Error as e: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print("資料庫錯誤：", e)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finally: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cursor.close()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connection.close()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互動提醒：今天就動手寫 10 行程式碼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60120" y="2788920"/>
            <a:ext cx="10268712" cy="1691640"/>
          </a:xfrm>
          <a:prstGeom prst="rect">
            <a:avLst/>
          </a:prstGeom>
          <a:solidFill>
            <a:srgbClr val="FFA07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926080"/>
            <a:ext cx="9921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重複練習 connect、cursor、execute、commit、close，才會真的內化。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課後練習清單（Day 1）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005840" cy="9144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10312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 students 資料表，並新增 3 筆學生資料</a:t>
            </a:r>
            <a:endParaRPr lang="en-US" sz="16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SELECT * 印出全部學生資料</a:t>
            </a:r>
            <a:endParaRPr lang="en-US" sz="16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fetchone() 取得一位學生</a:t>
            </a:r>
            <a:endParaRPr lang="en-US" sz="16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變更一位學生的城市並重新查詢</a:t>
            </a:r>
            <a:endParaRPr lang="en-US" sz="16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刪除年齡最小的一筆資料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後續學習路徑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mastered SQLite insert/select/update/delete 之後，可學 JOIN 與子查詢。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一律使用參數化查詢，直到成為習慣。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進階可學 ORM 工具如 SQLAlchemy Core 或 peewee。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再往上可學 MySQL、PostgreSQL，理解索引、交易隔離層級。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持續做小專案：記帳本、閱讀清單、個人履歷查詢系統。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12618720" cy="4480560"/>
          </a:xfrm>
          <a:prstGeom prst="rect">
            <a:avLst/>
          </a:prstGeom>
          <a:solidFill>
            <a:srgbClr val="0066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參考資源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005840" cy="91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官方文件：sqlite3 — DB-API 2.0 interface for SQLite databases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官方文件：https://www.sqlite.org/docs.html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 SQL Tutorial / Mode SQL Tutorial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推荐的练手项目：sample-database/crm、todo list with persistence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0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總結與後續學習路徑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B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謝謝聆聽，持續動手寫程式進步最快！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4526280"/>
            <a:ext cx="10972800" cy="128016"/>
          </a:xfrm>
          <a:prstGeom prst="rect">
            <a:avLst/>
          </a:prstGeom>
          <a:solidFill>
            <a:srgbClr val="FF7F5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SQLite3 程式小白教學投影片</dc:title>
  <dc:subject>SQLite3 入門實作教學</dc:subject>
  <dc:creator>AI Talent</dc:creator>
  <cp:lastModifiedBy>AI Talent</cp:lastModifiedBy>
  <cp:revision>1</cp:revision>
  <dcterms:created xsi:type="dcterms:W3CDTF">2026-07-08T00:38:12Z</dcterms:created>
  <dcterms:modified xsi:type="dcterms:W3CDTF">2026-07-08T00:38:12Z</dcterms:modified>
</cp:coreProperties>
</file>